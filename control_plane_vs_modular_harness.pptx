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d387201-f80b-fbf6-4e6a-f3f5e4c684fe}">
          <p14:sldIdLst>
            <p14:sldId id="256"/>
            <p14:sldId id="257"/>
          </p14:sldIdLst>
        </p14:section>
        <p14:section name="The two architectures" id="{d01f2c99-44e0-396f-3793-5f6ca3273165}">
          <p14:sldIdLst>
            <p14:sldId id="258"/>
            <p14:sldId id="259"/>
            <p14:sldId id="260"/>
          </p14:sldIdLst>
        </p14:section>
        <p14:section name="Reasoning layer design" id="{a4411ba0-1cc0-5b03-4bf2-76dc7640a1ed}">
          <p14:sldIdLst>
            <p14:sldId id="261"/>
            <p14:sldId id="262"/>
            <p14:sldId id="263"/>
            <p14:sldId id="264"/>
            <p14:sldId id="265"/>
          </p14:sldIdLst>
        </p14:section>
        <p14:section name="Recommendation" id="{86f7b348-e059-d781-20ab-492097a38b88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of two agent architectures, distilled from a design conversation about control planes, agent harnesses and symbolic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modular-harness description (plugin kernel, hot-swappable services) follows the DeepSeek Harness description in the source conversation and was not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Strongest argument for A: enforcement the agent cannot switch off. Weakest point: the information gap between the control plane and the executor.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fixes the information gap and the scattered reasoning, but it cannot replace the external trust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CLIPS has no native backward chaining; emulate it with goal and need facts. JESS has it built in but is commercially licensed and appears little maintained. Drools supports both modes.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Where Should Agent Reasoning Live?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Control plane + simple harness vs. a modular harness with a rule engine, OWL facts, schemas and an agent registry</a:t>
            </a:r>
            <a:endParaRPr lang="en-US" sz="2000" dirty="0"/>
          </a:p>
        </p:txBody>
      </p:sp>
      <p:pic>
        <p:nvPicPr>
          <p:cNvPr id="4" name="Titl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control plane ends up reasoning anyway</a:t>
            </a:r>
            <a:endParaRPr lang="en-US" sz="3200" dirty="0"/>
          </a:p>
        </p:txBody>
      </p:sp>
      <p:sp>
        <p:nvSpPr>
          <p:cNvPr id="3" name="Framing"/>
          <p:cNvSpPr txBox="1"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Once a control plane must decide whether a goal is achievable, it needs a reasoning engine. The real question is where that reasoning lives and what form it takes.</a:t>
            </a:r>
            <a:endParaRPr lang="en-US" sz="1800" dirty="0"/>
          </a:p>
        </p:txBody>
      </p:sp>
      <p:sp>
        <p:nvSpPr>
          <p:cNvPr id="4" name="Summary card 1"/>
          <p:cNvSpPr/>
          <p:nvPr/>
        </p:nvSpPr>
        <p:spPr>
          <a:xfrm>
            <a:off x="548640" y="2286000"/>
            <a:ext cx="352044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ummary 1 circle"/>
          <p:cNvSpPr/>
          <p:nvPr/>
        </p:nvSpPr>
        <p:spPr>
          <a:xfrm>
            <a:off x="868680" y="2606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ummar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7816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520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ARCHITECTURE 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40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plane + simple harness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57200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Reasoning is spread across Rego policies, a capability graph, LLM prompts and workflow code, each with its own model of a capability.</a:t>
            </a:r>
            <a:endParaRPr lang="en-US" sz="1500" dirty="0"/>
          </a:p>
        </p:txBody>
      </p:sp>
      <p:sp>
        <p:nvSpPr>
          <p:cNvPr id="10" name="Summary card 2"/>
          <p:cNvSpPr/>
          <p:nvPr/>
        </p:nvSpPr>
        <p:spPr>
          <a:xfrm>
            <a:off x="4343400" y="2286000"/>
            <a:ext cx="352044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ummary 2 circle"/>
          <p:cNvSpPr/>
          <p:nvPr/>
        </p:nvSpPr>
        <p:spPr>
          <a:xfrm>
            <a:off x="4663440" y="2606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Summar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005" y="278160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3520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ARCHITECTURE B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840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harness + semantic layer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457200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OWL holds the facts; a declarative rule engine does all inference and returns achievable, unachievable or undetermined.</a:t>
            </a:r>
            <a:endParaRPr lang="en-US" sz="1500" dirty="0"/>
          </a:p>
        </p:txBody>
      </p:sp>
      <p:sp>
        <p:nvSpPr>
          <p:cNvPr id="16" name="Summary card 3"/>
          <p:cNvSpPr/>
          <p:nvPr/>
        </p:nvSpPr>
        <p:spPr>
          <a:xfrm>
            <a:off x="8138160" y="2286000"/>
            <a:ext cx="3520440" cy="3429000"/>
          </a:xfrm>
          <a:prstGeom prst="roundRect">
            <a:avLst>
              <a:gd name="adj" fmla="val 21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ummary 3 circle"/>
          <p:cNvSpPr/>
          <p:nvPr/>
        </p:nvSpPr>
        <p:spPr>
          <a:xfrm>
            <a:off x="8458200" y="2606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Summar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65" y="278160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58200" y="3520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RECOMMENDATION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3840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by trust boundary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458200" y="457200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Keep what the agent must not bypass in a thin control plane. Put feasibility and planning in the rule-based semantic layer.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ways to place the reasoning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 · Control plane + simple harness</a:t>
            </a:r>
            <a:endParaRPr lang="en-US" sz="1800" dirty="0"/>
          </a:p>
        </p:txBody>
      </p:sp>
      <p:sp>
        <p:nvSpPr>
          <p:cNvPr id="4" name="A control plane"/>
          <p:cNvSpPr/>
          <p:nvPr/>
        </p:nvSpPr>
        <p:spPr>
          <a:xfrm>
            <a:off x="548640" y="1737360"/>
            <a:ext cx="5394960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Heavy control plane</a:t>
            </a:r>
            <a:endParaRPr lang="en-US" sz="1500" dirty="0"/>
          </a:p>
        </p:txBody>
      </p:sp>
      <p:sp>
        <p:nvSpPr>
          <p:cNvPr id="6" name="A layer 1"/>
          <p:cNvSpPr/>
          <p:nvPr/>
        </p:nvSpPr>
        <p:spPr>
          <a:xfrm>
            <a:off x="822960" y="2286000"/>
            <a:ext cx="4846320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286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Policy engine (OPA / Rego)</a:t>
            </a:r>
            <a:endParaRPr lang="en-US" sz="1400" dirty="0"/>
          </a:p>
        </p:txBody>
      </p:sp>
      <p:sp>
        <p:nvSpPr>
          <p:cNvPr id="8" name="A layer 2"/>
          <p:cNvSpPr/>
          <p:nvPr/>
        </p:nvSpPr>
        <p:spPr>
          <a:xfrm>
            <a:off x="822960" y="2852928"/>
            <a:ext cx="4846320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852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Capability graph (Neo4j)</a:t>
            </a:r>
            <a:endParaRPr lang="en-US" sz="1400" dirty="0"/>
          </a:p>
        </p:txBody>
      </p:sp>
      <p:sp>
        <p:nvSpPr>
          <p:cNvPr id="10" name="A layer 3"/>
          <p:cNvSpPr/>
          <p:nvPr/>
        </p:nvSpPr>
        <p:spPr>
          <a:xfrm>
            <a:off x="822960" y="3419856"/>
            <a:ext cx="4846320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4198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LLM macro-planner (builds the DAG)</a:t>
            </a:r>
            <a:endParaRPr lang="en-US" sz="1400" dirty="0"/>
          </a:p>
        </p:txBody>
      </p:sp>
      <p:sp>
        <p:nvSpPr>
          <p:cNvPr id="12" name="A layer 4"/>
          <p:cNvSpPr/>
          <p:nvPr/>
        </p:nvSpPr>
        <p:spPr>
          <a:xfrm>
            <a:off x="822960" y="3986784"/>
            <a:ext cx="4846320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9867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Workflow engine (Temporal)</a:t>
            </a:r>
            <a:endParaRPr lang="en-US" sz="1400" dirty="0"/>
          </a:p>
        </p:txBody>
      </p:sp>
      <p:sp>
        <p:nvSpPr>
          <p:cNvPr id="14" name="A arrow"/>
          <p:cNvSpPr/>
          <p:nvPr/>
        </p:nvSpPr>
        <p:spPr>
          <a:xfrm>
            <a:off x="3246120" y="4754880"/>
            <a:ext cx="0" cy="3657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imple harness 1"/>
          <p:cNvSpPr/>
          <p:nvPr/>
        </p:nvSpPr>
        <p:spPr>
          <a:xfrm>
            <a:off x="548640" y="5212080"/>
            <a:ext cx="1682496" cy="68580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212080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Simple harness</a:t>
            </a:r>
            <a:endParaRPr lang="en-US" sz="1400" dirty="0"/>
          </a:p>
        </p:txBody>
      </p:sp>
      <p:sp>
        <p:nvSpPr>
          <p:cNvPr id="17" name="Simple harness 2"/>
          <p:cNvSpPr/>
          <p:nvPr/>
        </p:nvSpPr>
        <p:spPr>
          <a:xfrm>
            <a:off x="2404872" y="5212080"/>
            <a:ext cx="1682496" cy="68580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04872" y="5212080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Simple harness</a:t>
            </a:r>
            <a:endParaRPr lang="en-US" sz="1400" dirty="0"/>
          </a:p>
        </p:txBody>
      </p:sp>
      <p:sp>
        <p:nvSpPr>
          <p:cNvPr id="19" name="Simple harness 3"/>
          <p:cNvSpPr/>
          <p:nvPr/>
        </p:nvSpPr>
        <p:spPr>
          <a:xfrm>
            <a:off x="4261104" y="5212080"/>
            <a:ext cx="1682496" cy="68580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5212080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Simple harness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35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Four layers, four separate models of a capability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1280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 · Modular harness + semantic layer</a:t>
            </a:r>
            <a:endParaRPr lang="en-US" sz="1800" dirty="0"/>
          </a:p>
        </p:txBody>
      </p:sp>
      <p:sp>
        <p:nvSpPr>
          <p:cNvPr id="23" name="B thin control plane"/>
          <p:cNvSpPr/>
          <p:nvPr/>
        </p:nvSpPr>
        <p:spPr>
          <a:xfrm>
            <a:off x="6245352" y="1737360"/>
            <a:ext cx="53949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519672" y="1737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Thin control plane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IAM · budgets · durable state · audit</a:t>
            </a:r>
            <a:endParaRPr lang="en-US" sz="1400" dirty="0"/>
          </a:p>
        </p:txBody>
      </p:sp>
      <p:sp>
        <p:nvSpPr>
          <p:cNvPr id="25" name="B arrow"/>
          <p:cNvSpPr/>
          <p:nvPr/>
        </p:nvSpPr>
        <p:spPr>
          <a:xfrm>
            <a:off x="8942832" y="2560320"/>
            <a:ext cx="0" cy="3200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B modular harness"/>
          <p:cNvSpPr/>
          <p:nvPr/>
        </p:nvSpPr>
        <p:spPr>
          <a:xfrm>
            <a:off x="6245352" y="2926080"/>
            <a:ext cx="5394960" cy="2971800"/>
          </a:xfrm>
          <a:prstGeom prst="roundRect">
            <a:avLst>
              <a:gd name="adj" fmla="val 24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519672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Modular harness (plugin kernel)</a:t>
            </a:r>
            <a:endParaRPr lang="en-US" sz="1500" dirty="0"/>
          </a:p>
        </p:txBody>
      </p:sp>
      <p:sp>
        <p:nvSpPr>
          <p:cNvPr id="28" name="Plugin Rule engine"/>
          <p:cNvSpPr/>
          <p:nvPr/>
        </p:nvSpPr>
        <p:spPr>
          <a:xfrm>
            <a:off x="6519672" y="3520440"/>
            <a:ext cx="2331720" cy="640080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56832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Rule engine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fwd · bwd · goal</a:t>
            </a:r>
            <a:endParaRPr lang="en-US" sz="1400" dirty="0"/>
          </a:p>
        </p:txBody>
      </p:sp>
      <p:sp>
        <p:nvSpPr>
          <p:cNvPr id="30" name="Plugin OWL fact store"/>
          <p:cNvSpPr/>
          <p:nvPr/>
        </p:nvSpPr>
        <p:spPr>
          <a:xfrm>
            <a:off x="8988552" y="3520440"/>
            <a:ext cx="2331720" cy="640080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25712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OWL fact store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facts only</a:t>
            </a:r>
            <a:endParaRPr lang="en-US" sz="1400" dirty="0"/>
          </a:p>
        </p:txBody>
      </p:sp>
      <p:sp>
        <p:nvSpPr>
          <p:cNvPr id="32" name="Plugin Schemas"/>
          <p:cNvSpPr/>
          <p:nvPr/>
        </p:nvSpPr>
        <p:spPr>
          <a:xfrm>
            <a:off x="6519672" y="4270248"/>
            <a:ext cx="2331720" cy="640080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56832" y="42702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Schemas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SHACL / JSON</a:t>
            </a:r>
            <a:endParaRPr lang="en-US" sz="1400" dirty="0"/>
          </a:p>
        </p:txBody>
      </p:sp>
      <p:sp>
        <p:nvSpPr>
          <p:cNvPr id="34" name="Plugin Agent registry"/>
          <p:cNvSpPr/>
          <p:nvPr/>
        </p:nvSpPr>
        <p:spPr>
          <a:xfrm>
            <a:off x="8988552" y="4270248"/>
            <a:ext cx="2331720" cy="640080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25712" y="42702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Agent registry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capabilities</a:t>
            </a:r>
            <a:endParaRPr lang="en-US" sz="1400" dirty="0"/>
          </a:p>
        </p:txBody>
      </p:sp>
      <p:sp>
        <p:nvSpPr>
          <p:cNvPr id="36" name="Plugin LLM adapter"/>
          <p:cNvSpPr/>
          <p:nvPr/>
        </p:nvSpPr>
        <p:spPr>
          <a:xfrm>
            <a:off x="6519672" y="5020056"/>
            <a:ext cx="2331720" cy="64008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56832" y="502005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LLM adapter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NL ↔ formal goals</a:t>
            </a:r>
            <a:endParaRPr lang="en-US" sz="1400" dirty="0"/>
          </a:p>
        </p:txBody>
      </p:sp>
      <p:sp>
        <p:nvSpPr>
          <p:cNvPr id="38" name="Plugin Tools &amp; sandbox"/>
          <p:cNvSpPr/>
          <p:nvPr/>
        </p:nvSpPr>
        <p:spPr>
          <a:xfrm>
            <a:off x="8988552" y="5020056"/>
            <a:ext cx="2331720" cy="64008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25712" y="502005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Tools &amp; sandbox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execution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245352" y="6035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Amber = semantic layer: one shared vocabulary and one inference engine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· Control plane + simple harness</a:t>
            </a:r>
            <a:endParaRPr lang="en-US" sz="3200" dirty="0"/>
          </a:p>
        </p:txBody>
      </p:sp>
      <p:sp>
        <p:nvSpPr>
          <p:cNvPr id="3" name="Strengths card"/>
          <p:cNvSpPr/>
          <p:nvPr/>
        </p:nvSpPr>
        <p:spPr>
          <a:xfrm>
            <a:off x="54864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rengths circle"/>
          <p:cNvSpPr/>
          <p:nvPr/>
        </p:nvSpPr>
        <p:spPr>
          <a:xfrm>
            <a:off x="868680" y="160020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Strength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74284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002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42316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Policy, credentials and kill switches sit outside the agent's reach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Mature parts: Temporal, OPA, Kubernetes, IAM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Simple workers are easy to test, replace and scale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Audit trail is external and independent of the agent</a:t>
            </a:r>
            <a:endParaRPr lang="en-US" sz="1700" dirty="0"/>
          </a:p>
        </p:txBody>
      </p:sp>
      <p:sp>
        <p:nvSpPr>
          <p:cNvPr id="8" name="Weaknesses card"/>
          <p:cNvSpPr/>
          <p:nvPr/>
        </p:nvSpPr>
        <p:spPr>
          <a:xfrm>
            <a:off x="621792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Weaknesses circle"/>
          <p:cNvSpPr/>
          <p:nvPr/>
        </p:nvSpPr>
        <p:spPr>
          <a:xfrm>
            <a:off x="6537960" y="16002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Weakness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174284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16002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42316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Decides from coarse manifests, so it has too little information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Reasoning is split across Rego, a graph, prompts and workflow code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LLM-drafted plans make "achievable" unverifiable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Flat capability tags: no subsumption or type matching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Replanning needs a round trip to the top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 · Modular harness + rules + OWL + registry</a:t>
            </a:r>
            <a:endParaRPr lang="en-US" sz="3200" dirty="0"/>
          </a:p>
        </p:txBody>
      </p:sp>
      <p:sp>
        <p:nvSpPr>
          <p:cNvPr id="3" name="Strengths card"/>
          <p:cNvSpPr/>
          <p:nvPr/>
        </p:nvSpPr>
        <p:spPr>
          <a:xfrm>
            <a:off x="54864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rengths circle"/>
          <p:cNvSpPr/>
          <p:nvPr/>
        </p:nvSpPr>
        <p:spPr>
          <a:xfrm>
            <a:off x="868680" y="160020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Strength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74284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002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42316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Feasibility is an inference with a derivation trace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One vocabulary for goals, capabilities, data and policy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Schemas check the data contracts between agents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Reasons next to execution and replans on live facts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Unknowns become targeted requests for information</a:t>
            </a:r>
            <a:endParaRPr lang="en-US" sz="1700" dirty="0"/>
          </a:p>
        </p:txBody>
      </p:sp>
      <p:sp>
        <p:nvSpPr>
          <p:cNvPr id="8" name="Weaknesses card"/>
          <p:cNvSpPr/>
          <p:nvPr/>
        </p:nvSpPr>
        <p:spPr>
          <a:xfrm>
            <a:off x="6217920" y="1325880"/>
            <a:ext cx="539496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Weaknesses circle"/>
          <p:cNvSpPr/>
          <p:nvPr/>
        </p:nvSpPr>
        <p:spPr>
          <a:xfrm>
            <a:off x="6537960" y="16002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Weakness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174284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16002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42316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Rule authoring is specialist work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Ontology and manifests drift from real plugin behavior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Turning language into formal goals still relies on an LLM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In-process plugins can't be the security boundary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fleet still needs a shared registry and durable state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Designing the reasoning layer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OWL states the facts. A CLIPS/JESS-style rule engine does every inference.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OWL states what is known; rules decide what follows</a:t>
            </a:r>
            <a:endParaRPr lang="en-US" sz="3200" dirty="0"/>
          </a:p>
        </p:txBody>
      </p:sp>
      <p:sp>
        <p:nvSpPr>
          <p:cNvPr id="3" name="OWL fact store card"/>
          <p:cNvSpPr/>
          <p:nvPr/>
        </p:nvSpPr>
        <p:spPr>
          <a:xfrm>
            <a:off x="548640" y="1371600"/>
            <a:ext cx="493776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OWL fact store circle"/>
          <p:cNvSpPr/>
          <p:nvPr/>
        </p:nvSpPr>
        <p:spPr>
          <a:xfrm>
            <a:off x="86868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OWL fact sto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8562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WHAT IS KNOWN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OWL fact store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97480"/>
            <a:ext cx="42976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Classes, individuals and properties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Agent capability manifests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 description-logic reasoning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Loaded into working memory as triples</a:t>
            </a:r>
            <a:endParaRPr lang="en-US" sz="1700" dirty="0"/>
          </a:p>
        </p:txBody>
      </p:sp>
      <p:sp>
        <p:nvSpPr>
          <p:cNvPr id="9" name="Declarative rules card"/>
          <p:cNvSpPr/>
          <p:nvPr/>
        </p:nvSpPr>
        <p:spPr>
          <a:xfrm>
            <a:off x="6702552" y="1371600"/>
            <a:ext cx="4937760" cy="4206240"/>
          </a:xfrm>
          <a:prstGeom prst="roundRect">
            <a:avLst>
              <a:gd name="adj" fmla="val 173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Declarative rules circle"/>
          <p:cNvSpPr/>
          <p:nvPr/>
        </p:nvSpPr>
        <p:spPr>
          <a:xfrm>
            <a:off x="7022592" y="1691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Declarative rul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184" y="18562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891272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WHAT FOLLOWS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891272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Declarative rules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7022592" y="2697480"/>
            <a:ext cx="42976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accent6"/>
                </a:solidFill>
              </a:rPr>
              <a:t>All inference, including class hierarchy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accent6"/>
                </a:solidFill>
              </a:rPr>
              <a:t>First-order rule patterns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accent6"/>
                </a:solidFill>
              </a:rPr>
              <a:t>Second-order patterns over reified triples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accent6"/>
                </a:solidFill>
              </a:rPr>
              <a:t>Decide what to do when knowledge is missing</a:t>
            </a:r>
            <a:endParaRPr lang="en-US" sz="1700" dirty="0"/>
          </a:p>
        </p:txBody>
      </p:sp>
      <p:sp>
        <p:nvSpPr>
          <p:cNvPr id="15" name="Triple pattern box"/>
          <p:cNvSpPr/>
          <p:nvPr/>
        </p:nvSpPr>
        <p:spPr>
          <a:xfrm>
            <a:off x="7022592" y="4709160"/>
            <a:ext cx="4297680" cy="548640"/>
          </a:xfrm>
          <a:prstGeom prst="roundRect">
            <a:avLst>
              <a:gd name="adj" fmla="val 8333"/>
            </a:avLst>
          </a:prstGeom>
          <a:solidFill>
            <a:srgbClr val="164A4B"/>
          </a:solidFill>
          <a:ln w="12700">
            <a:solidFill>
              <a:srgbClr val="164A4B"/>
            </a:solidFill>
            <a:prstDash val="solid"/>
          </a:ln>
        </p:spPr>
      </p:sp>
      <p:sp>
        <p:nvSpPr>
          <p:cNvPr id="16" name="Triple pattern"/>
          <p:cNvSpPr txBox="1"/>
          <p:nvPr/>
        </p:nvSpPr>
        <p:spPr>
          <a:xfrm>
            <a:off x="7159752" y="47091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(triple ?relation ?subject ?object)</a:t>
            </a:r>
            <a:endParaRPr lang="en-US" sz="1500" dirty="0"/>
          </a:p>
        </p:txBody>
      </p:sp>
      <p:sp>
        <p:nvSpPr>
          <p:cNvPr id="17" name="Assert arrow"/>
          <p:cNvSpPr/>
          <p:nvPr/>
        </p:nvSpPr>
        <p:spPr>
          <a:xfrm>
            <a:off x="5577840" y="3474720"/>
            <a:ext cx="103327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Text 14"/>
          <p:cNvSpPr txBox="1"/>
          <p:nvPr/>
        </p:nvSpPr>
        <p:spPr>
          <a:xfrm>
            <a:off x="5577840" y="3063240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assert</a:t>
            </a:r>
            <a:endParaRPr lang="en-US" sz="1200" dirty="0"/>
          </a:p>
        </p:txBody>
      </p:sp>
      <p:sp>
        <p:nvSpPr>
          <p:cNvPr id="19" name="Trade-off note"/>
          <p:cNvSpPr txBox="1"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Trade-off: because OWL doesn't reason, rules must reimplement the hierarchy inferences you rely on, such as subclass transitivity and inverse properties.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chaining modes, one working memory</a:t>
            </a:r>
            <a:endParaRPr lang="en-US" sz="3200" dirty="0"/>
          </a:p>
        </p:txBody>
      </p:sp>
      <p:sp>
        <p:nvSpPr>
          <p:cNvPr id="3" name="Forward chaining card"/>
          <p:cNvSpPr/>
          <p:nvPr/>
        </p:nvSpPr>
        <p:spPr>
          <a:xfrm>
            <a:off x="548640" y="1371600"/>
            <a:ext cx="3520440" cy="4663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Forward chaining circle"/>
          <p:cNvSpPr/>
          <p:nvPr/>
        </p:nvSpPr>
        <p:spPr>
          <a:xfrm>
            <a:off x="86868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orward chain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8562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560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DATA-DRIVEN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chaining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832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New facts flow through the Rete network; only what changed is re-evaluated.</a:t>
            </a:r>
            <a:endParaRPr lang="en-US" sz="1500" dirty="0"/>
          </a:p>
        </p:txBody>
      </p:sp>
      <p:sp>
        <p:nvSpPr>
          <p:cNvPr id="9" name="Forward chaining use"/>
          <p:cNvSpPr/>
          <p:nvPr/>
        </p:nvSpPr>
        <p:spPr>
          <a:xfrm>
            <a:off x="777240" y="4709160"/>
            <a:ext cx="3063240" cy="109728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47548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Used for: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 to agent results, keep derived facts current, flag policy violations</a:t>
            </a:r>
            <a:endParaRPr lang="en-US" sz="1400" dirty="0"/>
          </a:p>
        </p:txBody>
      </p:sp>
      <p:sp>
        <p:nvSpPr>
          <p:cNvPr id="11" name="Backward chaining card"/>
          <p:cNvSpPr/>
          <p:nvPr/>
        </p:nvSpPr>
        <p:spPr>
          <a:xfrm>
            <a:off x="4343400" y="1371600"/>
            <a:ext cx="3520440" cy="4663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Backward chaining circle"/>
          <p:cNvSpPr/>
          <p:nvPr/>
        </p:nvSpPr>
        <p:spPr>
          <a:xfrm>
            <a:off x="466344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Backward chain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85623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63440" y="2560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QUERY-DRIVEN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Backward chaining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33832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missing fact triggers a need- fact (JESS) or a backward query (Drools) that rules try to satisfy.</a:t>
            </a:r>
            <a:endParaRPr lang="en-US" sz="1500" dirty="0"/>
          </a:p>
        </p:txBody>
      </p:sp>
      <p:sp>
        <p:nvSpPr>
          <p:cNvPr id="17" name="Backward chaining use"/>
          <p:cNvSpPr/>
          <p:nvPr/>
        </p:nvSpPr>
        <p:spPr>
          <a:xfrm>
            <a:off x="4572000" y="4709160"/>
            <a:ext cx="3063240" cy="109728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09160" y="47548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Used for: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 "is this goal achievable?" by working back toward the facts that prove it</a:t>
            </a:r>
            <a:endParaRPr lang="en-US" sz="1400" dirty="0"/>
          </a:p>
        </p:txBody>
      </p:sp>
      <p:sp>
        <p:nvSpPr>
          <p:cNvPr id="19" name="Goal-driven card"/>
          <p:cNvSpPr/>
          <p:nvPr/>
        </p:nvSpPr>
        <p:spPr>
          <a:xfrm>
            <a:off x="8138160" y="1371600"/>
            <a:ext cx="3520440" cy="4663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Goal-driven circle"/>
          <p:cNvSpPr/>
          <p:nvPr/>
        </p:nvSpPr>
        <p:spPr>
          <a:xfrm>
            <a:off x="845820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Goal-drive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1856232"/>
            <a:ext cx="356616" cy="35661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58200" y="2560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INTENT-DRIVEN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458200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Goal-driven</a:t>
            </a:r>
            <a:endParaRPr lang="en-US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8458200" y="33832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Goals live as facts; rules break them into subgoals; a focus stack keeps work on the current goal.</a:t>
            </a:r>
            <a:endParaRPr lang="en-US" sz="1500" dirty="0"/>
          </a:p>
        </p:txBody>
      </p:sp>
      <p:sp>
        <p:nvSpPr>
          <p:cNvPr id="25" name="Goal-driven use"/>
          <p:cNvSpPr/>
          <p:nvPr/>
        </p:nvSpPr>
        <p:spPr>
          <a:xfrm>
            <a:off x="8366760" y="4709160"/>
            <a:ext cx="3063240" cy="109728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503920" y="47548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Used for: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Break the user's goal into a plan the control plane can dispatch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Missing knowledge becomes work to do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417320"/>
            <a:ext cx="251460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ep num 1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91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Backward chaining starts on (achievable g1)</a:t>
            </a:r>
            <a:endParaRPr lang="en-US" sz="1500" dirty="0"/>
          </a:p>
        </p:txBody>
      </p:sp>
      <p:sp>
        <p:nvSpPr>
          <p:cNvPr id="8" name="Step arrow 1"/>
          <p:cNvSpPr/>
          <p:nvPr/>
        </p:nvSpPr>
        <p:spPr>
          <a:xfrm>
            <a:off x="3099816" y="2674620"/>
            <a:ext cx="26517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tep 2"/>
          <p:cNvSpPr/>
          <p:nvPr/>
        </p:nvSpPr>
        <p:spPr>
          <a:xfrm>
            <a:off x="3401568" y="1417320"/>
            <a:ext cx="251460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tep num 2"/>
          <p:cNvSpPr/>
          <p:nvPr/>
        </p:nvSpPr>
        <p:spPr>
          <a:xfrm>
            <a:off x="3675888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361688" y="1691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gaps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42316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absent fact asserts a need- fact naming exactly what is missing</a:t>
            </a:r>
            <a:endParaRPr lang="en-US" sz="1500" dirty="0"/>
          </a:p>
        </p:txBody>
      </p:sp>
      <p:sp>
        <p:nvSpPr>
          <p:cNvPr id="14" name="Step arrow 2"/>
          <p:cNvSpPr/>
          <p:nvPr/>
        </p:nvSpPr>
        <p:spPr>
          <a:xfrm>
            <a:off x="5952744" y="2674620"/>
            <a:ext cx="26517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tep 3"/>
          <p:cNvSpPr/>
          <p:nvPr/>
        </p:nvSpPr>
        <p:spPr>
          <a:xfrm>
            <a:off x="6254496" y="1417320"/>
            <a:ext cx="2514600" cy="251460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tep num 3"/>
          <p:cNvSpPr/>
          <p:nvPr/>
        </p:nvSpPr>
        <p:spPr>
          <a:xfrm>
            <a:off x="6528816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214616" y="1691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Quiescence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242316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No rules left to fire and goal still open: undetermined, with the open need- facts</a:t>
            </a:r>
            <a:endParaRPr lang="en-US" sz="1500" dirty="0"/>
          </a:p>
        </p:txBody>
      </p:sp>
      <p:sp>
        <p:nvSpPr>
          <p:cNvPr id="20" name="Step arrow 3"/>
          <p:cNvSpPr/>
          <p:nvPr/>
        </p:nvSpPr>
        <p:spPr>
          <a:xfrm>
            <a:off x="8805672" y="2674620"/>
            <a:ext cx="26517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Step 4"/>
          <p:cNvSpPr/>
          <p:nvPr/>
        </p:nvSpPr>
        <p:spPr>
          <a:xfrm>
            <a:off x="9107424" y="1417320"/>
            <a:ext cx="251460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tep num 4"/>
          <p:cNvSpPr/>
          <p:nvPr/>
        </p:nvSpPr>
        <p:spPr>
          <a:xfrm>
            <a:off x="9381744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8174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067544" y="1691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Gather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9381744" y="242316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Orchestrator sends agents or asks humans; answers are asserted as facts</a:t>
            </a:r>
            <a:endParaRPr lang="en-US" sz="1500" dirty="0"/>
          </a:p>
        </p:txBody>
      </p:sp>
      <p:pic>
        <p:nvPicPr>
          <p:cNvPr id="26" name="Loo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06240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05156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Forward chaining picks up each new fact incrementally and re-evaluates the goal.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THREE OUTCOMES, NOT TWO</a:t>
            </a:r>
            <a:endParaRPr lang="en-US" sz="1200" dirty="0"/>
          </a:p>
        </p:txBody>
      </p:sp>
      <p:sp>
        <p:nvSpPr>
          <p:cNvPr id="29" name="Outcome Achievable"/>
          <p:cNvSpPr/>
          <p:nvPr/>
        </p:nvSpPr>
        <p:spPr>
          <a:xfrm>
            <a:off x="548640" y="5303520"/>
            <a:ext cx="237744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5303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Achievable</a:t>
            </a:r>
            <a:endParaRPr lang="en-US" sz="1600" dirty="0"/>
          </a:p>
        </p:txBody>
      </p:sp>
      <p:sp>
        <p:nvSpPr>
          <p:cNvPr id="31" name="Outcome Unachievable"/>
          <p:cNvSpPr/>
          <p:nvPr/>
        </p:nvSpPr>
        <p:spPr>
          <a:xfrm>
            <a:off x="3200400" y="5303520"/>
            <a:ext cx="23774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200400" y="5303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Unachievable</a:t>
            </a:r>
            <a:endParaRPr lang="en-US" sz="1600" dirty="0"/>
          </a:p>
        </p:txBody>
      </p:sp>
      <p:sp>
        <p:nvSpPr>
          <p:cNvPr id="33" name="Outcome Undetermined + missing facts"/>
          <p:cNvSpPr/>
          <p:nvPr/>
        </p:nvSpPr>
        <p:spPr>
          <a:xfrm>
            <a:off x="5852160" y="5303520"/>
            <a:ext cx="420624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852160" y="5303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Undetermined + missing facts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Keeping production rules declarative</a:t>
            </a:r>
            <a:endParaRPr lang="en-US" sz="3200" dirty="0"/>
          </a:p>
        </p:txBody>
      </p:sp>
      <p:sp>
        <p:nvSpPr>
          <p:cNvPr id="3" name="Truth maintenance circle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ruth maintenan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1547165"/>
            <a:ext cx="380390" cy="3803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325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Truth maintenance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6916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Wrap every derived conclusion in (logical ...) so it is retracted when its support disappears</a:t>
            </a:r>
            <a:endParaRPr lang="en-US" sz="1400" dirty="0"/>
          </a:p>
        </p:txBody>
      </p:sp>
      <p:sp>
        <p:nvSpPr>
          <p:cNvPr id="7" name="Explicit world assumptions circle"/>
          <p:cNvSpPr/>
          <p:nvPr/>
        </p:nvSpPr>
        <p:spPr>
          <a:xfrm>
            <a:off x="54864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Explicit world assumpti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5" y="273588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514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Explicit world assumptions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8803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Tag each fact type closed-world (agent registry) or open-world (outside world); an absent open-world fact yields a need-, never "false"</a:t>
            </a:r>
            <a:endParaRPr lang="en-US" sz="1400" dirty="0"/>
          </a:p>
        </p:txBody>
      </p:sp>
      <p:sp>
        <p:nvSpPr>
          <p:cNvPr id="11" name="Three-valued goal status circle"/>
          <p:cNvSpPr/>
          <p:nvPr/>
        </p:nvSpPr>
        <p:spPr>
          <a:xfrm>
            <a:off x="548640" y="3749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Three-valued goal statu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392460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703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Three-valued goal status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0690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Undetermined is not false; timeouts and depth limits also map to undetermined</a:t>
            </a:r>
            <a:endParaRPr lang="en-US" sz="1400" dirty="0"/>
          </a:p>
        </p:txBody>
      </p:sp>
      <p:sp>
        <p:nvSpPr>
          <p:cNvPr id="15" name="Salience for control only circle"/>
          <p:cNvSpPr/>
          <p:nvPr/>
        </p:nvSpPr>
        <p:spPr>
          <a:xfrm>
            <a:off x="548640" y="4937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Salience for control only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5" y="5113325"/>
            <a:ext cx="380390" cy="38039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4892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Salience for control only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257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rule priority for goal focus, never to decide what is true</a:t>
            </a:r>
            <a:endParaRPr lang="en-US" sz="1400" dirty="0"/>
          </a:p>
        </p:txBody>
      </p:sp>
      <p:sp>
        <p:nvSpPr>
          <p:cNvPr id="19" name="Rete costs card"/>
          <p:cNvSpPr/>
          <p:nvPr/>
        </p:nvSpPr>
        <p:spPr>
          <a:xfrm>
            <a:off x="7406640" y="1371600"/>
            <a:ext cx="4206240" cy="429768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72668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 costs to manage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7726680" y="219456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Partial matches use memory: load facts per tenant or per goal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Patterns with a variable relation match broadly: partition by relation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Backward chaining is emulated: add depth guards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formal semantics: enforce rule-writing standards in review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Head-to-head</a:t>
            </a:r>
            <a:endParaRPr lang="en-US" sz="3200" dirty="0"/>
          </a:p>
        </p:txBody>
      </p:sp>
      <p:graphicFrame>
        <p:nvGraphicFramePr>
          <p:cNvPr id="12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Criterion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 · Control plane + simple harness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 · Modular harness + semantic layer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Where reasoning lives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Spread across four control-plane layers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rule engine over OWL facts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Goal feasibility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LLM-drafted DAG, unverifiable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Inference with a derivation trace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Missing knowledge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 modeled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Undetermined + need- facts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Security boundary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Strong: outside the agent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Weak alone: needs a thin control plane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Durable, long-running work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Native (Temporal)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Needs external state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Replanning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Round trip to the control plane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Local, on live facts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Maturity and skills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Standard infrastructure skills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Rule and ontology engineering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by trust boundary</a:t>
            </a:r>
            <a:endParaRPr lang="en-US" sz="3800" dirty="0"/>
          </a:p>
        </p:txBody>
      </p:sp>
      <p:sp>
        <p:nvSpPr>
          <p:cNvPr id="3" name="Thin control plane rec card"/>
          <p:cNvSpPr/>
          <p:nvPr/>
        </p:nvSpPr>
        <p:spPr>
          <a:xfrm>
            <a:off x="731520" y="1600200"/>
            <a:ext cx="3337560" cy="3931920"/>
          </a:xfrm>
          <a:prstGeom prst="roundRect">
            <a:avLst>
              <a:gd name="adj" fmla="val 2192"/>
            </a:avLst>
          </a:prstGeom>
          <a:solidFill>
            <a:srgbClr val="164A4B"/>
          </a:solidFill>
          <a:ln w="12700">
            <a:solidFill>
              <a:srgbClr val="164A4B"/>
            </a:solidFill>
            <a:prstDash val="solid"/>
          </a:ln>
        </p:spPr>
      </p:sp>
      <p:sp>
        <p:nvSpPr>
          <p:cNvPr id="4" name="Thin control plane circle"/>
          <p:cNvSpPr/>
          <p:nvPr/>
        </p:nvSpPr>
        <p:spPr>
          <a:xfrm>
            <a:off x="1005840" y="18745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Thin control pla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459" y="20281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74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 control plane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651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What the agent must not bypass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15468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Credentials and scoped tokens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Budgets and kill switches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Tenant isolation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Durable state, approvals, audit</a:t>
            </a:r>
            <a:endParaRPr lang="en-US" sz="1500" dirty="0"/>
          </a:p>
        </p:txBody>
      </p:sp>
      <p:sp>
        <p:nvSpPr>
          <p:cNvPr id="9" name="Semantic layer rec card"/>
          <p:cNvSpPr/>
          <p:nvPr/>
        </p:nvSpPr>
        <p:spPr>
          <a:xfrm>
            <a:off x="4343400" y="1600200"/>
            <a:ext cx="3337560" cy="3931920"/>
          </a:xfrm>
          <a:prstGeom prst="roundRect">
            <a:avLst>
              <a:gd name="adj" fmla="val 2192"/>
            </a:avLst>
          </a:prstGeom>
          <a:solidFill>
            <a:srgbClr val="164A4B"/>
          </a:solidFill>
          <a:ln w="12700">
            <a:solidFill>
              <a:srgbClr val="164A4B"/>
            </a:solidFill>
            <a:prstDash val="solid"/>
          </a:ln>
        </p:spPr>
      </p:sp>
      <p:sp>
        <p:nvSpPr>
          <p:cNvPr id="10" name="Semantic layer circle"/>
          <p:cNvSpPr/>
          <p:nvPr/>
        </p:nvSpPr>
        <p:spPr>
          <a:xfrm>
            <a:off x="4617720" y="18745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Semantic laye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2028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874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layer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651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What the system must reason about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15468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Goal feasibility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Plan composition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Data-contract checks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Unknowns → need- facts</a:t>
            </a:r>
            <a:endParaRPr lang="en-US" sz="1500" dirty="0"/>
          </a:p>
        </p:txBody>
      </p:sp>
      <p:sp>
        <p:nvSpPr>
          <p:cNvPr id="15" name="Engine choice rec card"/>
          <p:cNvSpPr/>
          <p:nvPr/>
        </p:nvSpPr>
        <p:spPr>
          <a:xfrm>
            <a:off x="7955280" y="1600200"/>
            <a:ext cx="3337560" cy="3931920"/>
          </a:xfrm>
          <a:prstGeom prst="roundRect">
            <a:avLst>
              <a:gd name="adj" fmla="val 2192"/>
            </a:avLst>
          </a:prstGeom>
          <a:solidFill>
            <a:srgbClr val="164A4B"/>
          </a:solidFill>
          <a:ln w="12700">
            <a:solidFill>
              <a:srgbClr val="164A4B"/>
            </a:solidFill>
            <a:prstDash val="solid"/>
          </a:ln>
        </p:spPr>
      </p:sp>
      <p:sp>
        <p:nvSpPr>
          <p:cNvPr id="16" name="Engine choice circle"/>
          <p:cNvSpPr/>
          <p:nvPr/>
        </p:nvSpPr>
        <p:spPr>
          <a:xfrm>
            <a:off x="8229600" y="18745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Engine choic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219" y="202813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06840" y="1874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choice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2651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Rete with three modes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0" y="315468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Drools, or CLIPS + goal/need layer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Truth maintenance from day one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Closed/open tag on each fact type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Three-valued goal status</a:t>
            </a:r>
            <a:endParaRPr lang="en-US" sz="1500" dirty="0"/>
          </a:p>
        </p:txBody>
      </p:sp>
      <p:sp>
        <p:nvSpPr>
          <p:cNvPr id="21" name="Next steps"/>
          <p:cNvSpPr txBox="1"/>
          <p:nvPr/>
        </p:nvSpPr>
        <p:spPr>
          <a:xfrm>
            <a:off x="731520" y="57607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Next: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prototype the need- fact loop on one workflow, draft the capability ontology with closed/open tags, and measure Rete memory on a realistic fact base.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tology Slate">
  <a:themeElements>
    <a:clrScheme name="Ontology Slate">
      <a:dk1>
        <a:srgbClr val="1B2426"/>
      </a:dk1>
      <a:lt1>
        <a:srgbClr val="FFFFFF"/>
      </a:lt1>
      <a:dk2>
        <a:srgbClr val="0F3D3E"/>
      </a:dk2>
      <a:lt2>
        <a:srgbClr val="EEF4F1"/>
      </a:lt2>
      <a:accent1>
        <a:srgbClr val="1F6F6B"/>
      </a:accent1>
      <a:accent2>
        <a:srgbClr val="E8A33D"/>
      </a:accent2>
      <a:accent3>
        <a:srgbClr val="B5523B"/>
      </a:accent3>
      <a:accent4>
        <a:srgbClr val="4E8A4C"/>
      </a:accent4>
      <a:accent5>
        <a:srgbClr val="6B7B7C"/>
      </a:accent5>
      <a:accent6>
        <a:srgbClr val="DCEBE5"/>
      </a:accent6>
      <a:hlink>
        <a:srgbClr val="1F6F6B"/>
      </a:hlink>
      <a:folHlink>
        <a:srgbClr val="6B7B7C"/>
      </a:folHlink>
    </a:clrScheme>
    <a:fontScheme name="Ontology Sla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Plane vs. Modular Reasoning Harness</dc:title>
  <dc:subject>PptxGenJS Presentation</dc:subject>
  <dc:creator>PptxGenJS</dc:creator>
  <cp:lastModifiedBy>PptxGenJS</cp:lastModifiedBy>
  <cp:revision>1</cp:revision>
  <dcterms:created xsi:type="dcterms:W3CDTF">2026-10-16T19:10:04Z</dcterms:created>
  <dcterms:modified xsi:type="dcterms:W3CDTF">2026-10-16T19:10:04Z</dcterms:modified>
</cp:coreProperties>
</file>